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5" r:id="rId6"/>
    <p:sldMasterId id="214748366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32/YxALnVDMtvZUXrITx0xqM6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55577A-BDA2-4532-AEA8-284A7D73E5E4}">
  <a:tblStyle styleId="{9B55577A-BDA2-4532-AEA8-284A7D73E5E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22" Type="http://customschemas.google.com/relationships/presentationmetadata" Target="metadata"/><Relationship Id="rId10" Type="http://schemas.openxmlformats.org/officeDocument/2006/relationships/slide" Target="slides/slide2.xml"/><Relationship Id="rId21" Type="http://schemas.openxmlformats.org/officeDocument/2006/relationships/slide" Target="slides/slide13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6" name="Google Shape;14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1bf34a8a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" name="Google Shape;153;g381bf34a8af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1bf34a8a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0" name="Google Shape;160;g381bf34a8af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f066b006f_0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f066b006f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8f066b006f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1bf34a8af_0_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81bf34a8af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1bf34a8af_0_3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81bf34a8a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1bf34a8a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8" name="Google Shape;198;g381bf34a8af_0_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f066b006f_0_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f066b006f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8f066b006f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1bf34a8af_0_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81bf34a8a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1bf34a8af_0_2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81bf34a8af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1bf34a8af_0_235"/>
          <p:cNvSpPr txBox="1"/>
          <p:nvPr>
            <p:ph type="ctrTitle"/>
          </p:nvPr>
        </p:nvSpPr>
        <p:spPr>
          <a:xfrm>
            <a:off x="3969582" y="2130425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81bf34a8af_0_235"/>
          <p:cNvSpPr txBox="1"/>
          <p:nvPr>
            <p:ph idx="1" type="subTitle"/>
          </p:nvPr>
        </p:nvSpPr>
        <p:spPr>
          <a:xfrm>
            <a:off x="3124200" y="3886200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g381bf34a8af_0_2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81bf34a8af_0_2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81bf34a8af_0_2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1bf34a8af_0_24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81bf34a8af_0_241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g381bf34a8af_0_24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81bf34a8af_0_24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81bf34a8af_0_24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72" name="Google Shape;72;g381bf34a8af_0_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4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1bf34a8af_0_248"/>
          <p:cNvSpPr txBox="1"/>
          <p:nvPr>
            <p:ph idx="1" type="body"/>
          </p:nvPr>
        </p:nvSpPr>
        <p:spPr>
          <a:xfrm>
            <a:off x="457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g381bf34a8af_0_248"/>
          <p:cNvSpPr txBox="1"/>
          <p:nvPr>
            <p:ph idx="2" type="body"/>
          </p:nvPr>
        </p:nvSpPr>
        <p:spPr>
          <a:xfrm>
            <a:off x="4648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6" name="Google Shape;76;g381bf34a8af_0_24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81bf34a8af_0_24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81bf34a8af_0_24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g381bf34a8af_0_24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1bf34a8af_0_25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81bf34a8af_0_25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81bf34a8af_0_25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81bf34a8af_0_25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1bf34a8af_0_260"/>
          <p:cNvSpPr txBox="1"/>
          <p:nvPr>
            <p:ph type="title"/>
          </p:nvPr>
        </p:nvSpPr>
        <p:spPr>
          <a:xfrm>
            <a:off x="457200" y="1066968"/>
            <a:ext cx="3008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81bf34a8af_0_260"/>
          <p:cNvSpPr txBox="1"/>
          <p:nvPr>
            <p:ph idx="1" type="body"/>
          </p:nvPr>
        </p:nvSpPr>
        <p:spPr>
          <a:xfrm>
            <a:off x="3575050" y="1073720"/>
            <a:ext cx="5111700" cy="50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8" name="Google Shape;88;g381bf34a8af_0_260"/>
          <p:cNvSpPr txBox="1"/>
          <p:nvPr>
            <p:ph idx="2" type="body"/>
          </p:nvPr>
        </p:nvSpPr>
        <p:spPr>
          <a:xfrm>
            <a:off x="457200" y="1803850"/>
            <a:ext cx="3008400" cy="4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9" name="Google Shape;89;g381bf34a8af_0_2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81bf34a8af_0_2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81bf34a8af_0_2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1bf34a8af_0_267"/>
          <p:cNvSpPr txBox="1"/>
          <p:nvPr>
            <p:ph type="title"/>
          </p:nvPr>
        </p:nvSpPr>
        <p:spPr>
          <a:xfrm>
            <a:off x="457200" y="1196430"/>
            <a:ext cx="2573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81bf34a8af_0_267"/>
          <p:cNvSpPr/>
          <p:nvPr>
            <p:ph idx="2" type="pic"/>
          </p:nvPr>
        </p:nvSpPr>
        <p:spPr>
          <a:xfrm>
            <a:off x="3200400" y="1196430"/>
            <a:ext cx="5486400" cy="48504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g381bf34a8af_0_267"/>
          <p:cNvSpPr txBox="1"/>
          <p:nvPr>
            <p:ph idx="1" type="body"/>
          </p:nvPr>
        </p:nvSpPr>
        <p:spPr>
          <a:xfrm>
            <a:off x="457200" y="1768043"/>
            <a:ext cx="25737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g381bf34a8af_0_26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81bf34a8af_0_26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81bf34a8af_0_26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1bf34a8af_0_344"/>
          <p:cNvSpPr txBox="1"/>
          <p:nvPr>
            <p:ph type="ctrTitle"/>
          </p:nvPr>
        </p:nvSpPr>
        <p:spPr>
          <a:xfrm>
            <a:off x="3969582" y="2130425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81bf34a8af_0_344"/>
          <p:cNvSpPr txBox="1"/>
          <p:nvPr>
            <p:ph idx="1" type="subTitle"/>
          </p:nvPr>
        </p:nvSpPr>
        <p:spPr>
          <a:xfrm>
            <a:off x="3124200" y="3886200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g381bf34a8af_0_34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81bf34a8af_0_34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81bf34a8af_0_3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1bf34a8af_0_35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81bf34a8af_0_350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g381bf34a8af_0_35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81bf34a8af_0_35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81bf34a8af_0_35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117" name="Google Shape;117;g381bf34a8af_0_3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4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1bf34a8af_0_357"/>
          <p:cNvSpPr txBox="1"/>
          <p:nvPr>
            <p:ph idx="1" type="body"/>
          </p:nvPr>
        </p:nvSpPr>
        <p:spPr>
          <a:xfrm>
            <a:off x="457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0" name="Google Shape;120;g381bf34a8af_0_357"/>
          <p:cNvSpPr txBox="1"/>
          <p:nvPr>
            <p:ph idx="2" type="body"/>
          </p:nvPr>
        </p:nvSpPr>
        <p:spPr>
          <a:xfrm>
            <a:off x="4648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1" name="Google Shape;121;g381bf34a8af_0_35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81bf34a8af_0_35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81bf34a8af_0_35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g381bf34a8af_0_35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1bf34a8af_0_364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81bf34a8af_0_36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81bf34a8af_0_36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81bf34a8af_0_36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1bf34a8af_0_369"/>
          <p:cNvSpPr txBox="1"/>
          <p:nvPr>
            <p:ph type="title"/>
          </p:nvPr>
        </p:nvSpPr>
        <p:spPr>
          <a:xfrm>
            <a:off x="457200" y="1066968"/>
            <a:ext cx="3008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81bf34a8af_0_369"/>
          <p:cNvSpPr txBox="1"/>
          <p:nvPr>
            <p:ph idx="1" type="body"/>
          </p:nvPr>
        </p:nvSpPr>
        <p:spPr>
          <a:xfrm>
            <a:off x="3575050" y="1073720"/>
            <a:ext cx="5111700" cy="50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3" name="Google Shape;133;g381bf34a8af_0_369"/>
          <p:cNvSpPr txBox="1"/>
          <p:nvPr>
            <p:ph idx="2" type="body"/>
          </p:nvPr>
        </p:nvSpPr>
        <p:spPr>
          <a:xfrm>
            <a:off x="457200" y="1803850"/>
            <a:ext cx="3008400" cy="4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g381bf34a8af_0_36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81bf34a8af_0_36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81bf34a8af_0_3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1bf34a8af_0_376"/>
          <p:cNvSpPr txBox="1"/>
          <p:nvPr>
            <p:ph type="title"/>
          </p:nvPr>
        </p:nvSpPr>
        <p:spPr>
          <a:xfrm>
            <a:off x="457200" y="1196430"/>
            <a:ext cx="2573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81bf34a8af_0_376"/>
          <p:cNvSpPr/>
          <p:nvPr>
            <p:ph idx="2" type="pic"/>
          </p:nvPr>
        </p:nvSpPr>
        <p:spPr>
          <a:xfrm>
            <a:off x="3200400" y="1196430"/>
            <a:ext cx="5486400" cy="48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g381bf34a8af_0_376"/>
          <p:cNvSpPr txBox="1"/>
          <p:nvPr>
            <p:ph idx="1" type="body"/>
          </p:nvPr>
        </p:nvSpPr>
        <p:spPr>
          <a:xfrm>
            <a:off x="457200" y="1768043"/>
            <a:ext cx="25737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1" name="Google Shape;141;g381bf34a8af_0_37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81bf34a8af_0_37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81bf34a8af_0_37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1bf34a8af_0_2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g381bf34a8af_0_22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81bf34a8af_0_2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81bf34a8af_0_2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81bf34a8af_0_2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1bf34a8af_0_3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g381bf34a8af_0_33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g381bf34a8af_0_3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g381bf34a8af_0_3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g381bf34a8af_0_3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27: Personalized Financial Advisor App for Students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/>
              <a:t>Bi-Weekly Update 3</a:t>
            </a:r>
            <a:br>
              <a:rPr lang="en-US"/>
            </a:br>
            <a:r>
              <a:rPr lang="en-US" sz="2455"/>
              <a:t>Camille Embree, Hoang-Nghi Nguyen</a:t>
            </a:r>
            <a:br>
              <a:rPr lang="en-US" sz="2455"/>
            </a:br>
            <a:r>
              <a:rPr lang="en-US" sz="2455"/>
              <a:t>TA: Sabyasachi Gupta</a:t>
            </a:r>
            <a:br>
              <a:rPr lang="en-US" sz="2455"/>
            </a:br>
            <a:endParaRPr sz="2455"/>
          </a:p>
        </p:txBody>
      </p:sp>
      <p:sp>
        <p:nvSpPr>
          <p:cNvPr id="149" name="Google Shape;14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150" name="Google Shape;1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1bf34a8af_0_5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pic>
        <p:nvPicPr>
          <p:cNvPr descr="Financial literacy - Education - SVG vector - MySVG.ORG" id="156" name="Google Shape;156;g381bf34a8af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775" y="2880899"/>
            <a:ext cx="2889624" cy="21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81bf34a8af_0_51"/>
          <p:cNvSpPr txBox="1"/>
          <p:nvPr>
            <p:ph idx="1" type="body"/>
          </p:nvPr>
        </p:nvSpPr>
        <p:spPr>
          <a:xfrm>
            <a:off x="457200" y="198137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Financial management is difficult for many students, with irregular income, high living expenses and a general lack of tools and the incentive to provide clear visibility on personal spending.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Our app addresses this by using AI and machine learning to work with transaction tracking through categorization and personalized financial feedback.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1bf34a8af_0_10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Project/Subsystem Overview</a:t>
            </a:r>
            <a:endParaRPr/>
          </a:p>
        </p:txBody>
      </p:sp>
      <p:pic>
        <p:nvPicPr>
          <p:cNvPr id="163" name="Google Shape;163;g381bf34a8af_0_102" title="403 Block Dia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26999"/>
            <a:ext cx="9143998" cy="520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f066b006f_0_1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Adaptive Gamified Learning</a:t>
            </a:r>
            <a:endParaRPr/>
          </a:p>
        </p:txBody>
      </p:sp>
      <p:sp>
        <p:nvSpPr>
          <p:cNvPr id="170" name="Google Shape;170;g38f066b006f_0_11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Purpose: Make financial learning engaging while adapting advice and challenges based on each user’s spending behavior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How it works:</a:t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Data-Driven Personalization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ML model for trend analysis in user transactions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Forecasting for future spending prediction overall and per category of user expenses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Adaptive Feedback Loop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User actions -&gt; Financial Feedback -&gt; Performance metrics -&gt; Challenge updates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Learning Impact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Encourages consistent budgeting behavior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Assists in building financial literacy in real-time without deterring users from being proactive with their spending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176" name="Google Shape;176;p4"/>
          <p:cNvGraphicFramePr/>
          <p:nvPr/>
        </p:nvGraphicFramePr>
        <p:xfrm>
          <a:off x="230909" y="27869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{9B55577A-BDA2-4532-AEA8-284A7D73E5E4}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38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Database and Plaid API testing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(completed 9/1</a:t>
                      </a:r>
                      <a:r>
                        <a:rPr lang="en-US" sz="1300"/>
                        <a:t>8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Polished application pages</a:t>
                      </a:r>
                      <a:endParaRPr sz="13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(to be completed </a:t>
                      </a:r>
                      <a:endParaRPr sz="13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Plaid API integration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(to complete by 9/25)</a:t>
                      </a:r>
                      <a:endParaRPr sz="13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Final Integration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10/15)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System Test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11/2)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Validation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11/26)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Demo and Report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12/5)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Subsystem 1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Camille Embree</a:t>
            </a:r>
            <a:endParaRPr sz="2980"/>
          </a:p>
        </p:txBody>
      </p:sp>
      <p:graphicFrame>
        <p:nvGraphicFramePr>
          <p:cNvPr id="182" name="Google Shape;182;p5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{9B55577A-BDA2-4532-AEA8-284A7D73E5E4}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21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Updated Firestore </a:t>
                      </a:r>
                      <a:r>
                        <a:rPr lang="en-US" sz="1800"/>
                        <a:t>database to reflect trivia mini-game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Created drafts of new quiz tab and mini-game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Test front-end/back-end database integration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Create quizzes tab page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Create two more mini-games for implementation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1bf34a8af_0_33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UI Design</a:t>
            </a:r>
            <a:endParaRPr/>
          </a:p>
        </p:txBody>
      </p:sp>
      <p:pic>
        <p:nvPicPr>
          <p:cNvPr id="188" name="Google Shape;188;g381bf34a8af_0_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800" y="1852877"/>
            <a:ext cx="2638304" cy="4700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81bf34a8af_0_3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9929" y="1852877"/>
            <a:ext cx="2659040" cy="470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1bf34a8af_0_38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UI Design</a:t>
            </a:r>
            <a:endParaRPr/>
          </a:p>
        </p:txBody>
      </p:sp>
      <p:pic>
        <p:nvPicPr>
          <p:cNvPr id="195" name="Google Shape;195;g381bf34a8af_0_383" title="quiz_screen_with_progress_4tab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7575" y="1852877"/>
            <a:ext cx="2168851" cy="470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1bf34a8af_0_15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Subsystem 2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Hoang-Nghi Nguyen</a:t>
            </a:r>
            <a:endParaRPr sz="2980"/>
          </a:p>
        </p:txBody>
      </p:sp>
      <p:graphicFrame>
        <p:nvGraphicFramePr>
          <p:cNvPr id="201" name="Google Shape;201;g381bf34a8af_0_158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{9B55577A-BDA2-4532-AEA8-284A7D73E5E4}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35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laid API </a:t>
                      </a:r>
                      <a:r>
                        <a:rPr lang="en-US" sz="1800"/>
                        <a:t>Integration finalized.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Backend design for resource forecaster ML model.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Designing and creating structure and pipeline for financial minigames.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f066b006f_0_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Subsystem 2</a:t>
            </a:r>
            <a:endParaRPr/>
          </a:p>
        </p:txBody>
      </p:sp>
      <p:pic>
        <p:nvPicPr>
          <p:cNvPr id="208" name="Google Shape;208;g38f066b006f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038" y="2624140"/>
            <a:ext cx="7991475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1bf34a8af_0_169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graphicFrame>
        <p:nvGraphicFramePr>
          <p:cNvPr id="214" name="Google Shape;214;g381bf34a8af_0_169"/>
          <p:cNvGraphicFramePr/>
          <p:nvPr/>
        </p:nvGraphicFramePr>
        <p:xfrm>
          <a:off x="71425" y="204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{9B55577A-BDA2-4532-AEA8-284A7D73E5E4}</a:tableStyleId>
              </a:tblPr>
              <a:tblGrid>
                <a:gridCol w="2476500"/>
                <a:gridCol w="485775"/>
                <a:gridCol w="419100"/>
                <a:gridCol w="485775"/>
                <a:gridCol w="485775"/>
                <a:gridCol w="485775"/>
                <a:gridCol w="485775"/>
                <a:gridCol w="485775"/>
                <a:gridCol w="561975"/>
                <a:gridCol w="561975"/>
                <a:gridCol w="561975"/>
                <a:gridCol w="476250"/>
                <a:gridCol w="476250"/>
                <a:gridCol w="5524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8/31/25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9/7/25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9/14/25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9/21/25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9/28/25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9/31/25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10/5/25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10/12/25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10/19/25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10/26/25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11/2/25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11/9/25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11/16/25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0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Solidify Database Organization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Plaid API Sandbox Testing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  <a:extLst>
                      <a:ext uri="http://customooxmlschemas.google.com/">
                        <go:slidesCustomData xmlns:go="http://customooxmlschemas.google.com/" cellId="214:2:1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Not started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2:12"/>
                      </a:ext>
                    </a:extLst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Make UI More Relaxing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3:1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3:12"/>
                      </a:ext>
                    </a:extLst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Implement Breathing Animation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4:1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Completed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4:12"/>
                      </a:ext>
                    </a:extLst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Plaid API Integration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  <a:extLst>
                      <a:ext uri="http://customooxmlschemas.google.com/">
                        <go:slidesCustomData xmlns:go="http://customooxmlschemas.google.com/" cellId="214:5:1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Behind Schedule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5:12"/>
                      </a:ext>
                    </a:extLst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Integrate Joint Database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  <a:extLst>
                      <a:ext uri="http://customooxmlschemas.google.com/">
                        <go:slidesCustomData xmlns:go="http://customooxmlschemas.google.com/" cellId="214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6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Frontend-Backend API Connection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7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7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ML Forecaster Design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8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8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Backend Financial Minigame Design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9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9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9:1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Frontend Minigame UI Page Design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  <a:extLst>
                      <a:ext uri="http://customooxmlschemas.google.com/">
                        <go:slidesCustomData xmlns:go="http://customooxmlschemas.google.com/" cellId="214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4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  <a:extLst>
                      <a:ext uri="http://customooxmlschemas.google.com/">
                        <go:slidesCustomData xmlns:go="http://customooxmlschemas.google.com/" cellId="214:1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14:10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1bf34a8af_0_224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220" name="Google Shape;220;g381bf34a8af_0_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437" y="1646350"/>
            <a:ext cx="7649125" cy="50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>
            <p:ph type="ctrTitle"/>
          </p:nvPr>
        </p:nvSpPr>
        <p:spPr>
          <a:xfrm>
            <a:off x="2327707" y="2694000"/>
            <a:ext cx="44886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