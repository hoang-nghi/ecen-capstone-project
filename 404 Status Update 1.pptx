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sxJtru0dj+t/V+5qxF1jHSCDJ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2716D8-8546-4B99-8514-9E8B9243F9E2}">
  <a:tblStyle styleId="{002716D8-8546-4B99-8514-9E8B9243F9E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887ccd1a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8887ccd1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Design Approach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"Our goal is to make the app easy to use while still providing detailed financial insights.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We’ve focused on a clean layout with a logical flow, ensuring users can quickly access their financial data."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User Interaction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"The design includes features like spending breakdowns, savings goals, and budgeting tools,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all presented in a way that makes financial management approachable rather than overwhelming."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887ccd1a0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8887ccd1a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bc9cd836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4" name="Google Shape;144;g37bc9cd8364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897c7c9af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897c7c9a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8897c7c9a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bc9cd8364_0_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7bc9cd836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887ccd1a0_0_1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8887ccd1a0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7" name="Google Shape;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887ccd1a0_0_119"/>
          <p:cNvSpPr txBox="1"/>
          <p:nvPr>
            <p:ph type="ctrTitle"/>
          </p:nvPr>
        </p:nvSpPr>
        <p:spPr>
          <a:xfrm>
            <a:off x="3969582" y="2130425"/>
            <a:ext cx="4488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8887ccd1a0_0_119"/>
          <p:cNvSpPr txBox="1"/>
          <p:nvPr>
            <p:ph idx="1" type="subTitle"/>
          </p:nvPr>
        </p:nvSpPr>
        <p:spPr>
          <a:xfrm>
            <a:off x="3124200" y="3886200"/>
            <a:ext cx="5334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g38887ccd1a0_0_1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8887ccd1a0_0_1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8887ccd1a0_0_1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887ccd1a0_0_12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8887ccd1a0_0_125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g38887ccd1a0_0_1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8887ccd1a0_0_1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8887ccd1a0_0_1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72" name="Google Shape;72;g38887ccd1a0_0_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4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887ccd1a0_0_132"/>
          <p:cNvSpPr txBox="1"/>
          <p:nvPr>
            <p:ph idx="1" type="body"/>
          </p:nvPr>
        </p:nvSpPr>
        <p:spPr>
          <a:xfrm>
            <a:off x="457200" y="1975644"/>
            <a:ext cx="40386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g38887ccd1a0_0_132"/>
          <p:cNvSpPr txBox="1"/>
          <p:nvPr>
            <p:ph idx="2" type="body"/>
          </p:nvPr>
        </p:nvSpPr>
        <p:spPr>
          <a:xfrm>
            <a:off x="4648200" y="1975644"/>
            <a:ext cx="40386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6" name="Google Shape;76;g38887ccd1a0_0_1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8887ccd1a0_0_1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8887ccd1a0_0_1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g38887ccd1a0_0_13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887ccd1a0_0_139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8887ccd1a0_0_13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38887ccd1a0_0_13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8887ccd1a0_0_13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887ccd1a0_0_144"/>
          <p:cNvSpPr txBox="1"/>
          <p:nvPr>
            <p:ph type="title"/>
          </p:nvPr>
        </p:nvSpPr>
        <p:spPr>
          <a:xfrm>
            <a:off x="457200" y="1066968"/>
            <a:ext cx="30084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8887ccd1a0_0_144"/>
          <p:cNvSpPr txBox="1"/>
          <p:nvPr>
            <p:ph idx="1" type="body"/>
          </p:nvPr>
        </p:nvSpPr>
        <p:spPr>
          <a:xfrm>
            <a:off x="3575050" y="1073720"/>
            <a:ext cx="5111700" cy="50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8" name="Google Shape;88;g38887ccd1a0_0_144"/>
          <p:cNvSpPr txBox="1"/>
          <p:nvPr>
            <p:ph idx="2" type="body"/>
          </p:nvPr>
        </p:nvSpPr>
        <p:spPr>
          <a:xfrm>
            <a:off x="457200" y="1803850"/>
            <a:ext cx="3008400" cy="43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9" name="Google Shape;89;g38887ccd1a0_0_14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8887ccd1a0_0_14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8887ccd1a0_0_14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887ccd1a0_0_151"/>
          <p:cNvSpPr txBox="1"/>
          <p:nvPr>
            <p:ph type="title"/>
          </p:nvPr>
        </p:nvSpPr>
        <p:spPr>
          <a:xfrm>
            <a:off x="457200" y="1196430"/>
            <a:ext cx="2573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8887ccd1a0_0_151"/>
          <p:cNvSpPr/>
          <p:nvPr>
            <p:ph idx="2" type="pic"/>
          </p:nvPr>
        </p:nvSpPr>
        <p:spPr>
          <a:xfrm>
            <a:off x="3200400" y="1196430"/>
            <a:ext cx="5486400" cy="48504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g38887ccd1a0_0_151"/>
          <p:cNvSpPr txBox="1"/>
          <p:nvPr>
            <p:ph idx="1" type="body"/>
          </p:nvPr>
        </p:nvSpPr>
        <p:spPr>
          <a:xfrm>
            <a:off x="457200" y="1768043"/>
            <a:ext cx="2573700" cy="4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6" name="Google Shape;96;g38887ccd1a0_0_15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8887ccd1a0_0_15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8887ccd1a0_0_15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8887ccd1a0_0_1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g38887ccd1a0_0_1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38887ccd1a0_0_1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8887ccd1a0_0_1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g38887ccd1a0_0_1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2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27: Financial Advisor App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for Students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/>
              <a:t>Bi-Weekly Update 1</a:t>
            </a:r>
            <a:br>
              <a:rPr lang="en-US"/>
            </a:br>
            <a:r>
              <a:rPr lang="en-US" sz="2455"/>
              <a:t>Camille Embree, Hoang-Nghi Nguyen</a:t>
            </a:r>
            <a:br>
              <a:rPr lang="en-US" sz="2455"/>
            </a:br>
            <a:r>
              <a:rPr lang="en-US" sz="2455"/>
              <a:t>Sponsor: Niloofar Borzooei</a:t>
            </a:r>
            <a:br>
              <a:rPr lang="en-US" sz="2455"/>
            </a:br>
            <a:r>
              <a:rPr lang="en-US" sz="2455"/>
              <a:t>TA: Sabyasachi Gupta</a:t>
            </a:r>
            <a:br>
              <a:rPr lang="en-US" sz="2455"/>
            </a:br>
            <a:endParaRPr sz="2455"/>
          </a:p>
        </p:txBody>
      </p:sp>
      <p:sp>
        <p:nvSpPr>
          <p:cNvPr id="104" name="Google Shape;104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105" name="Google Shape;10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pic>
        <p:nvPicPr>
          <p:cNvPr descr="Financial literacy - Education - SVG vector - MySVG.ORG" id="111" name="Google Shape;1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775" y="2880899"/>
            <a:ext cx="2889624" cy="21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457200" y="1981375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Financial management is difficult for many students, with irregular income, high living expenses and a general lack of tools and the incentive to provide clear visibility on personal spending.</a:t>
            </a:r>
            <a:endParaRPr sz="2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Our app addresses this by using AI and machine learning to work with transaction tracking through categorization and personalized financial feedback.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None/>
            </a:pPr>
            <a:r>
              <a:rPr lang="en-US"/>
              <a:t>Project/Subsystem Overview</a:t>
            </a:r>
            <a:endParaRPr/>
          </a:p>
        </p:txBody>
      </p:sp>
      <p:pic>
        <p:nvPicPr>
          <p:cNvPr id="118" name="Google Shape;118;p3" title="403 Block Diagr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26999"/>
            <a:ext cx="9143998" cy="520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Front-end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Camille Embree</a:t>
            </a:r>
            <a:endParaRPr sz="2980"/>
          </a:p>
        </p:txBody>
      </p:sp>
      <p:graphicFrame>
        <p:nvGraphicFramePr>
          <p:cNvPr id="124" name="Google Shape;124;p6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{002716D8-8546-4B99-8514-9E8B9243F9E2}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9 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Recovered app functionality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Switched project to MacBook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Solidified database organization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Use IOS laptop to test push notifications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Modify UI design to be more soothing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Build user survey page upon account creation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887ccd1a0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UI Design</a:t>
            </a:r>
            <a:endParaRPr/>
          </a:p>
        </p:txBody>
      </p:sp>
      <p:pic>
        <p:nvPicPr>
          <p:cNvPr id="130" name="Google Shape;130;g38887ccd1a0_0_0" title="sign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450" y="1852877"/>
            <a:ext cx="2171146" cy="470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8887ccd1a0_0_0" title="signu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6433" y="1852877"/>
            <a:ext cx="2171146" cy="470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8887ccd1a0_0_0" title="verifica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6391" y="1852877"/>
            <a:ext cx="2171146" cy="470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887ccd1a0_0_10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UI Design</a:t>
            </a:r>
            <a:endParaRPr/>
          </a:p>
        </p:txBody>
      </p:sp>
      <p:pic>
        <p:nvPicPr>
          <p:cNvPr id="138" name="Google Shape;138;g38887ccd1a0_0_105" title="analys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588" y="2042938"/>
            <a:ext cx="1997474" cy="4324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8887ccd1a0_0_105" title="analysis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037" y="2042913"/>
            <a:ext cx="1997474" cy="4324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8887ccd1a0_0_105" title="educa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3938" y="2042875"/>
            <a:ext cx="1997474" cy="4324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8887ccd1a0_0_1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53488" y="2042888"/>
            <a:ext cx="1997474" cy="4324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bc9cd8364_0_9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Back-end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Hoang-Nghi Nguyen</a:t>
            </a:r>
            <a:endParaRPr sz="2980"/>
          </a:p>
        </p:txBody>
      </p:sp>
      <p:graphicFrame>
        <p:nvGraphicFramePr>
          <p:cNvPr id="147" name="Google Shape;147;g37bc9cd8364_0_9"/>
          <p:cNvGraphicFramePr/>
          <p:nvPr/>
        </p:nvGraphicFramePr>
        <p:xfrm>
          <a:off x="685800" y="228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{002716D8-8546-4B99-8514-9E8B9243F9E2}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Set up testing environment for Plaid API to acquire user transaction information from bank accounts.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Finalize Plaid API configuration, develop back-end pipeline for bank integration, front-end and back-end connection.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897c7c9af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Designed, Tested and Validated</a:t>
            </a:r>
            <a:endParaRPr/>
          </a:p>
        </p:txBody>
      </p:sp>
      <p:pic>
        <p:nvPicPr>
          <p:cNvPr id="154" name="Google Shape;154;g38897c7c9a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2650" y="1852875"/>
            <a:ext cx="6618700" cy="3042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8897c7c9af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000" y="5126575"/>
            <a:ext cx="5316001" cy="15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bc9cd8364_0_60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Ongoing progress</a:t>
            </a:r>
            <a:endParaRPr sz="2980"/>
          </a:p>
        </p:txBody>
      </p:sp>
      <p:sp>
        <p:nvSpPr>
          <p:cNvPr id="161" name="Google Shape;161;g37bc9cd8364_0_60"/>
          <p:cNvSpPr txBox="1"/>
          <p:nvPr/>
        </p:nvSpPr>
        <p:spPr>
          <a:xfrm>
            <a:off x="1088473" y="3091472"/>
            <a:ext cx="2753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Currently running tests on receiving test user data in Sandbox mode.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Formatted in JSON for easy parsing of text from data.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62" name="Google Shape;162;g37bc9cd8364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3350" y="2333325"/>
            <a:ext cx="3566974" cy="41100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>
            <p:ph type="title"/>
          </p:nvPr>
        </p:nvSpPr>
        <p:spPr>
          <a:xfrm>
            <a:off x="457200" y="8967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&amp; Plan</a:t>
            </a:r>
            <a:endParaRPr/>
          </a:p>
        </p:txBody>
      </p:sp>
      <p:graphicFrame>
        <p:nvGraphicFramePr>
          <p:cNvPr id="168" name="Google Shape;168;p9"/>
          <p:cNvGraphicFramePr/>
          <p:nvPr/>
        </p:nvGraphicFramePr>
        <p:xfrm>
          <a:off x="240175" y="153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{002716D8-8546-4B99-8514-9E8B9243F9E2}</a:tableStyleId>
              </a:tblPr>
              <a:tblGrid>
                <a:gridCol w="2566675"/>
                <a:gridCol w="449125"/>
                <a:gridCol w="390150"/>
                <a:gridCol w="442875"/>
                <a:gridCol w="442875"/>
                <a:gridCol w="390150"/>
                <a:gridCol w="390150"/>
                <a:gridCol w="442875"/>
                <a:gridCol w="442875"/>
                <a:gridCol w="442875"/>
                <a:gridCol w="390150"/>
                <a:gridCol w="432325"/>
                <a:gridCol w="442875"/>
                <a:gridCol w="453425"/>
                <a:gridCol w="442875"/>
                <a:gridCol w="516700"/>
                <a:gridCol w="516700"/>
                <a:gridCol w="516700"/>
              </a:tblGrid>
              <a:tr h="27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2/2/25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2/9/25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2/16/25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2/23/25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3/2/25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3/9/25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3/16/25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3/23/25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3/30/25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4/6/25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4/13/25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4/20/25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9/8/25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9/22/25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10/20/25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11/10/25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Learn React Native Basics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2/7/25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Design and Plan UI Layout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2/10/25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Install dependencies for Flask (Python)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Not started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2/10/25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Plan Database Structure in Firebase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 Progress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2/21/25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Set Up Flask Structure and Environment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Completed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2/24/25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Set Up Firestore Database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Behind Schedule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2/25/25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Design Logic for Backend Info Storing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3/14/25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Code general application outline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3/14/25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Integrate Service for Feedback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3/14/25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Set up authentication through Firebase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3/19/25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Set up data sending/fetching to Firestore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3/27/25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Integrate Plaid API for Bank Data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3/26/25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Establish live graph and chart functions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4/2/25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Handle Sign in/Sign up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4/5/25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Integrate Data Management Systems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4/3/25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Implement graph and design home page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4/17/25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Design analysis page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4/12/25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Develop Backend APIs for Records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4/9/25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Finalize Database and Backend Structures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4/18/25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Design education page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4/23/25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Integrate Alerts/Sounds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4/23/25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Join Firestore Database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9/20/25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Modify UI to Include Relaxing Features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10/18/25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Plaid API Integration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10/20/25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Fully integrate Front-end and Back-end Operations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11/10/25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887ccd1a0_0_166"/>
          <p:cNvSpPr txBox="1"/>
          <p:nvPr>
            <p:ph type="title"/>
          </p:nvPr>
        </p:nvSpPr>
        <p:spPr>
          <a:xfrm>
            <a:off x="457200" y="8967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&amp; Plan</a:t>
            </a:r>
            <a:endParaRPr/>
          </a:p>
        </p:txBody>
      </p:sp>
      <p:pic>
        <p:nvPicPr>
          <p:cNvPr id="174" name="Google Shape;174;g38887ccd1a0_0_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437" y="1646350"/>
            <a:ext cx="7649125" cy="50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 txBox="1"/>
          <p:nvPr>
            <p:ph idx="1" type="body"/>
          </p:nvPr>
        </p:nvSpPr>
        <p:spPr>
          <a:xfrm>
            <a:off x="457200" y="1608545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Thank you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