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jB+eeKo0lVW6E6raNWg2W4WySk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BA8B29A-E476-4064-8BAC-A0DC9BC9C848}">
  <a:tblStyle styleId="{6BA8B29A-E476-4064-8BAC-A0DC9BC9C84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6" name="Google Shape;5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81bf34a8af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63" name="Google Shape;63;g381bf34a8af_0_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81bf34a8af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70" name="Google Shape;70;g381bf34a8af_0_10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2" name="Google Shape;82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81bf34a8af_0_3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g381bf34a8af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c3ee48680_3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g39c3ee48680_3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81bf34a8af_0_3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381bf34a8af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81bf34a8af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0" name="Google Shape;110;g381bf34a8af_0_1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8f066b006f_0_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g38f066b006f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g38f066b006f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9c3ee48680_0_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9c3ee48680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9c3ee48680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1bf34a8af_0_16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381bf34a8af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1bf34a8af_0_2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381bf34a8af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3969582" y="2130425"/>
            <a:ext cx="4488617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3124200" y="3886200"/>
            <a:ext cx="5333999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457200" y="2049270"/>
            <a:ext cx="8229600" cy="40768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DLCOE_logo_HWHT.png" id="27" name="Google Shape;2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851" y="234146"/>
            <a:ext cx="2443865" cy="41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457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0" name="Google Shape;30;p12"/>
          <p:cNvSpPr txBox="1"/>
          <p:nvPr>
            <p:ph idx="2" type="body"/>
          </p:nvPr>
        </p:nvSpPr>
        <p:spPr>
          <a:xfrm>
            <a:off x="4648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1" name="Google Shape;3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12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3"/>
          <p:cNvSpPr txBox="1"/>
          <p:nvPr>
            <p:ph type="title"/>
          </p:nvPr>
        </p:nvSpPr>
        <p:spPr>
          <a:xfrm>
            <a:off x="457200" y="290064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457200" y="1066968"/>
            <a:ext cx="3008313" cy="7368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3575050" y="1073720"/>
            <a:ext cx="5111750" cy="505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1" sz="28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3" name="Google Shape;43;p14"/>
          <p:cNvSpPr txBox="1"/>
          <p:nvPr>
            <p:ph idx="2" type="body"/>
          </p:nvPr>
        </p:nvSpPr>
        <p:spPr>
          <a:xfrm>
            <a:off x="457200" y="1803850"/>
            <a:ext cx="3008313" cy="4322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4" name="Google Shape;4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5"/>
          <p:cNvSpPr txBox="1"/>
          <p:nvPr>
            <p:ph type="title"/>
          </p:nvPr>
        </p:nvSpPr>
        <p:spPr>
          <a:xfrm>
            <a:off x="457200" y="1196430"/>
            <a:ext cx="2573672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/>
          <p:nvPr>
            <p:ph idx="2" type="pic"/>
          </p:nvPr>
        </p:nvSpPr>
        <p:spPr>
          <a:xfrm>
            <a:off x="3200400" y="1196430"/>
            <a:ext cx="5486400" cy="4850287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15"/>
          <p:cNvSpPr txBox="1"/>
          <p:nvPr>
            <p:ph idx="1" type="body"/>
          </p:nvPr>
        </p:nvSpPr>
        <p:spPr>
          <a:xfrm>
            <a:off x="457200" y="1768043"/>
            <a:ext cx="2573672" cy="42786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7.png"/><Relationship Id="rId5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"/>
          <p:cNvSpPr txBox="1"/>
          <p:nvPr>
            <p:ph type="ctrTitle"/>
          </p:nvPr>
        </p:nvSpPr>
        <p:spPr>
          <a:xfrm>
            <a:off x="1619250" y="3814625"/>
            <a:ext cx="7302600" cy="22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1111"/>
              <a:buFont typeface="Arial"/>
              <a:buNone/>
            </a:pPr>
            <a:r>
              <a:rPr lang="en-US"/>
              <a:t>Team 27: Personalized Financial Advisor App for Students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38922"/>
              <a:buFont typeface="Arial"/>
              <a:buNone/>
            </a:pPr>
            <a:r>
              <a:rPr lang="en-US"/>
              <a:t>Bi-Weekly Update 4</a:t>
            </a:r>
            <a:br>
              <a:rPr lang="en-US"/>
            </a:br>
            <a:r>
              <a:rPr lang="en-US" sz="2455"/>
              <a:t>Camille Embree, Hoang-Nghi Nguyen</a:t>
            </a:r>
            <a:br>
              <a:rPr lang="en-US" sz="2455"/>
            </a:br>
            <a:r>
              <a:rPr lang="en-US" sz="2455"/>
              <a:t>TA: Sabyasachi Gupta</a:t>
            </a:r>
            <a:br>
              <a:rPr lang="en-US" sz="2455"/>
            </a:br>
            <a:endParaRPr sz="2455"/>
          </a:p>
        </p:txBody>
      </p:sp>
      <p:sp>
        <p:nvSpPr>
          <p:cNvPr id="59" name="Google Shape;59;p1"/>
          <p:cNvSpPr/>
          <p:nvPr/>
        </p:nvSpPr>
        <p:spPr>
          <a:xfrm>
            <a:off x="0" y="0"/>
            <a:ext cx="6111425" cy="6111425"/>
          </a:xfrm>
          <a:prstGeom prst="diagStripe">
            <a:avLst>
              <a:gd fmla="val 28990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193675" rotWithShape="0" dir="5400000" dist="230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LCOE_logo_HWHT.png" id="60" name="Google Shape;6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44000" y="1105318"/>
            <a:ext cx="3114199" cy="525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81bf34a8af_0_51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Project Summary</a:t>
            </a:r>
            <a:endParaRPr/>
          </a:p>
        </p:txBody>
      </p:sp>
      <p:pic>
        <p:nvPicPr>
          <p:cNvPr descr="Financial literacy - Education - SVG vector - MySVG.ORG" id="66" name="Google Shape;66;g381bf34a8af_0_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51775" y="2880899"/>
            <a:ext cx="2889624" cy="21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g381bf34a8af_0_51"/>
          <p:cNvSpPr txBox="1"/>
          <p:nvPr>
            <p:ph idx="1" type="body"/>
          </p:nvPr>
        </p:nvSpPr>
        <p:spPr>
          <a:xfrm>
            <a:off x="457200" y="1981375"/>
            <a:ext cx="4532100" cy="46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83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Financial management is difficult for many students, with irregular income, high living expenses and a general lack of tools and the incentive to provide clear visibility on personal spending.</a:t>
            </a:r>
            <a:endParaRPr sz="22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200"/>
          </a:p>
          <a:p>
            <a:pPr indent="-3683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Our app addresses this by using AI and machine learning to work with transaction tracking through categorization and personalized financial feedback.</a:t>
            </a:r>
            <a:endParaRPr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81bf34a8af_0_102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6"/>
              <a:buFont typeface="Arial"/>
              <a:buNone/>
            </a:pPr>
            <a:r>
              <a:rPr lang="en-US"/>
              <a:t>Project/Subsystem Overview</a:t>
            </a:r>
            <a:endParaRPr/>
          </a:p>
        </p:txBody>
      </p:sp>
      <p:pic>
        <p:nvPicPr>
          <p:cNvPr id="73" name="Google Shape;73;g381bf34a8af_0_102" title="403 Block Diagr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26999"/>
            <a:ext cx="9143998" cy="5205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Project Timeline </a:t>
            </a:r>
            <a:endParaRPr/>
          </a:p>
        </p:txBody>
      </p:sp>
      <p:graphicFrame>
        <p:nvGraphicFramePr>
          <p:cNvPr id="79" name="Google Shape;79;p4"/>
          <p:cNvGraphicFramePr/>
          <p:nvPr/>
        </p:nvGraphicFramePr>
        <p:xfrm>
          <a:off x="230909" y="27869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{6BA8B29A-E476-4064-8BAC-A0DC9BC9C848}</a:tableStyleId>
              </a:tblPr>
              <a:tblGrid>
                <a:gridCol w="1245350"/>
                <a:gridCol w="1240575"/>
                <a:gridCol w="1242975"/>
                <a:gridCol w="1252525"/>
                <a:gridCol w="1308550"/>
                <a:gridCol w="1182175"/>
                <a:gridCol w="1099200"/>
              </a:tblGrid>
              <a:tr h="1387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Database and Plaid API testing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(completed 9/18)</a:t>
                      </a:r>
                      <a:endParaRPr sz="1400" u="none" cap="none" strike="noStrike"/>
                    </a:p>
                  </a:txBody>
                  <a:tcPr marT="45675" marB="4567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>
                        <a:alpha val="4941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Polished application pages</a:t>
                      </a:r>
                      <a:r>
                        <a:rPr lang="en-US" sz="1300"/>
                        <a:t> (completed 10/14)</a:t>
                      </a:r>
                      <a:endParaRPr sz="13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5675" marB="4567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>
                        <a:alpha val="4941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Plaid API integration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en-US" sz="1300">
                          <a:solidFill>
                            <a:schemeClr val="dk1"/>
                          </a:solidFill>
                        </a:rPr>
                        <a:t>completed</a:t>
                      </a: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 9/25)</a:t>
                      </a:r>
                      <a:endParaRPr sz="1300" u="none" cap="none" strike="noStrike"/>
                    </a:p>
                  </a:txBody>
                  <a:tcPr marT="45675" marB="4567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>
                        <a:alpha val="4941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Final Integration </a:t>
                      </a:r>
                      <a:br>
                        <a:rPr lang="en-US" sz="1300" u="none" cap="none" strike="noStrike"/>
                      </a:br>
                      <a:r>
                        <a:rPr lang="en-US" sz="1300" u="none" cap="none" strike="noStrike"/>
                        <a:t>(to complete by 10/</a:t>
                      </a:r>
                      <a:r>
                        <a:rPr lang="en-US" sz="1300"/>
                        <a:t>27</a:t>
                      </a:r>
                      <a:r>
                        <a:rPr lang="en-US" sz="1300" u="none" cap="none" strike="noStrike"/>
                        <a:t>)</a:t>
                      </a:r>
                      <a:endParaRPr sz="1400" u="none" cap="none" strike="noStrike"/>
                    </a:p>
                  </a:txBody>
                  <a:tcPr marT="45675" marB="4567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>
                        <a:alpha val="494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System Test</a:t>
                      </a:r>
                      <a:br>
                        <a:rPr lang="en-US" sz="1300" u="none" cap="none" strike="noStrike"/>
                      </a:br>
                      <a:r>
                        <a:rPr lang="en-US" sz="1300" u="none" cap="none" strike="noStrike"/>
                        <a:t>(to complete by 11/2)</a:t>
                      </a:r>
                      <a:endParaRPr sz="1400" u="none" cap="none" strike="noStrike"/>
                    </a:p>
                  </a:txBody>
                  <a:tcPr marT="45675" marB="4567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>
                        <a:alpha val="494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Validation</a:t>
                      </a:r>
                      <a:br>
                        <a:rPr lang="en-US" sz="1300" u="none" cap="none" strike="noStrike"/>
                      </a:br>
                      <a:r>
                        <a:rPr lang="en-US" sz="1300" u="none" cap="none" strike="noStrike"/>
                        <a:t>(to complete by 11/26)</a:t>
                      </a:r>
                      <a:endParaRPr sz="1400" u="none" cap="none" strike="noStrike"/>
                    </a:p>
                  </a:txBody>
                  <a:tcPr marT="45675" marB="4567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Demo and Report </a:t>
                      </a:r>
                      <a:br>
                        <a:rPr lang="en-US" sz="1300" u="none" cap="none" strike="noStrike"/>
                      </a:br>
                      <a:r>
                        <a:rPr lang="en-US" sz="1300" u="none" cap="none" strike="noStrike"/>
                        <a:t>(to complete by 12/5)</a:t>
                      </a:r>
                      <a:endParaRPr sz="1300" u="none" cap="none" strike="noStrike"/>
                    </a:p>
                  </a:txBody>
                  <a:tcPr marT="45675" marB="4567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Subsystem 1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Camille Embree</a:t>
            </a:r>
            <a:endParaRPr sz="2980"/>
          </a:p>
        </p:txBody>
      </p:sp>
      <p:graphicFrame>
        <p:nvGraphicFramePr>
          <p:cNvPr id="85" name="Google Shape;85;p5"/>
          <p:cNvGraphicFramePr/>
          <p:nvPr/>
        </p:nvGraphicFramePr>
        <p:xfrm>
          <a:off x="685800" y="19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{6BA8B29A-E476-4064-8BAC-A0DC9BC9C848}</a:tableStyleId>
              </a:tblPr>
              <a:tblGrid>
                <a:gridCol w="3886200"/>
                <a:gridCol w="3886200"/>
              </a:tblGrid>
              <a:tr h="640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last update  </a:t>
                      </a: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6</a:t>
                      </a: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 hrs of effort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734600">
                <a:tc>
                  <a:txBody>
                    <a:bodyPr/>
                    <a:lstStyle/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-"/>
                      </a:pPr>
                      <a:r>
                        <a:rPr lang="en-US" sz="1800"/>
                        <a:t>Finalized two mini game UIs</a:t>
                      </a:r>
                      <a:endParaRPr sz="1800"/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Updated screen layouts</a:t>
                      </a:r>
                      <a:endParaRPr sz="1800"/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Integrated Firebase between front-end and back-end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-"/>
                      </a:pPr>
                      <a:r>
                        <a:rPr lang="en-US" sz="1800"/>
                        <a:t>Transfer data collection from Firebase to backend API</a:t>
                      </a:r>
                      <a:endParaRPr sz="1800"/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Connect frontend operations to Plaid</a:t>
                      </a:r>
                      <a:endParaRPr sz="1800"/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Finalize last two mini game UIs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81bf34a8af_0_330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/>
              <a:t>UI Design</a:t>
            </a:r>
            <a:endParaRPr/>
          </a:p>
        </p:txBody>
      </p:sp>
      <p:pic>
        <p:nvPicPr>
          <p:cNvPr id="91" name="Google Shape;91;g381bf34a8af_0_330" title="Simulator Screenshot - iPhone 16 Plus - 2025-10-22 at 15.18.3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6325" y="1852877"/>
            <a:ext cx="2168851" cy="4700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g381bf34a8af_0_330" title="Simulator Screenshot - iPhone 16 Plus - 2025-10-22 at 15.17.1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87576" y="1852877"/>
            <a:ext cx="2168851" cy="4700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g381bf34a8af_0_330" title="Simulator Screenshot - iPhone 16 Plus - 2025-10-22 at 15.17.3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08826" y="1852877"/>
            <a:ext cx="2168851" cy="4700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c3ee48680_3_16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/>
              <a:t>UI Design</a:t>
            </a:r>
            <a:endParaRPr/>
          </a:p>
        </p:txBody>
      </p:sp>
      <p:pic>
        <p:nvPicPr>
          <p:cNvPr id="99" name="Google Shape;99;g39c3ee48680_3_16" title="Simulator Screenshot - iPhone 16 Plus - 2025-10-22 at 15.53.3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3475" y="1852887"/>
            <a:ext cx="2234975" cy="4843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g39c3ee48680_3_16" title="Simulator Screenshot - iPhone 16 Plus - 2025-10-22 at 15.17.5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90025" y="1852875"/>
            <a:ext cx="2234975" cy="48436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81bf34a8af_0_383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/>
              <a:t>API Connection Test</a:t>
            </a:r>
            <a:endParaRPr/>
          </a:p>
        </p:txBody>
      </p:sp>
      <p:pic>
        <p:nvPicPr>
          <p:cNvPr id="106" name="Google Shape;106;g381bf34a8af_0_383" title="simulator_screenshot_C0FC6503-3FA3-49B0-9A77-8B649D2EAF3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788" y="1852875"/>
            <a:ext cx="2252923" cy="488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g381bf34a8af_0_383" title="simulator_screenshot_C0FC6503-3FA3-49B0-9A77-8B649D2EAF30.png"/>
          <p:cNvPicPr preferRelativeResize="0"/>
          <p:nvPr/>
        </p:nvPicPr>
        <p:blipFill rotWithShape="1">
          <a:blip r:embed="rId3">
            <a:alphaModFix/>
          </a:blip>
          <a:srcRect b="70467" l="0" r="0" t="0"/>
          <a:stretch/>
        </p:blipFill>
        <p:spPr>
          <a:xfrm>
            <a:off x="3638750" y="2678650"/>
            <a:ext cx="5048051" cy="323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" name="Google Shape;112;g381bf34a8af_0_158"/>
          <p:cNvGraphicFramePr/>
          <p:nvPr/>
        </p:nvGraphicFramePr>
        <p:xfrm>
          <a:off x="685800" y="19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{6BA8B29A-E476-4064-8BAC-A0DC9BC9C848}</a:tableStyleId>
              </a:tblPr>
              <a:tblGrid>
                <a:gridCol w="3886200"/>
                <a:gridCol w="3886200"/>
              </a:tblGrid>
              <a:tr h="933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last update  </a:t>
                      </a: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41</a:t>
                      </a: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 hrs of effort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2527900">
                <a:tc>
                  <a:txBody>
                    <a:bodyPr/>
                    <a:lstStyle/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MInigame backend structure complete with ML forecasting (Budget Streak Challenge, Smart Saver Quiz, Spend Detective, Financial Categories)</a:t>
                      </a:r>
                      <a:endParaRPr sz="1800"/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Implemented modular API routing, Firebase Admin SDK, public/private documents per user in Firebase.</a:t>
                      </a:r>
                      <a:endParaRPr sz="1800"/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Deployed Backend on Google Cloud (accessible from anywhere, permanent public URL, no longer needs to be run locally)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Test API endpoints for minigame functionality on frontend</a:t>
                      </a:r>
                      <a:endParaRPr sz="1800"/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Integrate protected endpoints from backend requests to frontend for app functions using Plaid Link and authentication</a:t>
                      </a:r>
                      <a:endParaRPr sz="1800"/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Rate limiting to prevent spamming of endpoint calls</a:t>
                      </a:r>
                      <a:endParaRPr sz="1800"/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t/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3" name="Google Shape;113;g381bf34a8af_0_158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Subsystem 2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Hoang-Nghi Nguyen</a:t>
            </a:r>
            <a:endParaRPr sz="298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8f066b006f_0_4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/>
              <a:t>Subsystem 2</a:t>
            </a:r>
            <a:endParaRPr/>
          </a:p>
        </p:txBody>
      </p:sp>
      <p:pic>
        <p:nvPicPr>
          <p:cNvPr id="120" name="Google Shape;120;g38f066b006f_0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9513" y="1765775"/>
            <a:ext cx="5324975" cy="4952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g39c3ee48680_0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8063" y="944775"/>
            <a:ext cx="4507874" cy="5608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81bf34a8af_0_169"/>
          <p:cNvSpPr txBox="1"/>
          <p:nvPr>
            <p:ph type="title"/>
          </p:nvPr>
        </p:nvSpPr>
        <p:spPr>
          <a:xfrm>
            <a:off x="457200" y="8967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Execution Plan</a:t>
            </a:r>
            <a:endParaRPr/>
          </a:p>
        </p:txBody>
      </p:sp>
      <p:graphicFrame>
        <p:nvGraphicFramePr>
          <p:cNvPr id="132" name="Google Shape;132;g381bf34a8af_0_169"/>
          <p:cNvGraphicFramePr/>
          <p:nvPr/>
        </p:nvGraphicFramePr>
        <p:xfrm>
          <a:off x="71425" y="2046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{6BA8B29A-E476-4064-8BAC-A0DC9BC9C848}</a:tableStyleId>
              </a:tblPr>
              <a:tblGrid>
                <a:gridCol w="2476500"/>
                <a:gridCol w="485775"/>
                <a:gridCol w="419100"/>
                <a:gridCol w="485775"/>
                <a:gridCol w="485775"/>
                <a:gridCol w="485775"/>
                <a:gridCol w="485775"/>
                <a:gridCol w="485775"/>
                <a:gridCol w="561975"/>
                <a:gridCol w="561975"/>
                <a:gridCol w="561975"/>
                <a:gridCol w="476250"/>
                <a:gridCol w="476250"/>
                <a:gridCol w="552450"/>
              </a:tblGrid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8/31/25</a:t>
                      </a:r>
                      <a:endParaRPr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  <a:extLst>
                      <a:ext uri="http://customooxmlschemas.google.com/">
                        <go:slidesCustomData xmlns:go="http://customooxmlschemas.google.com/" cellId="132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9/7/25</a:t>
                      </a:r>
                      <a:endParaRPr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  <a:extLst>
                      <a:ext uri="http://customooxmlschemas.google.com/">
                        <go:slidesCustomData xmlns:go="http://customooxmlschemas.google.com/" cellId="132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9/14/25</a:t>
                      </a:r>
                      <a:endParaRPr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  <a:extLst>
                      <a:ext uri="http://customooxmlschemas.google.com/">
                        <go:slidesCustomData xmlns:go="http://customooxmlschemas.google.com/" cellId="132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9/21/25</a:t>
                      </a:r>
                      <a:endParaRPr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  <a:extLst>
                      <a:ext uri="http://customooxmlschemas.google.com/">
                        <go:slidesCustomData xmlns:go="http://customooxmlschemas.google.com/" cellId="132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9/28/25</a:t>
                      </a:r>
                      <a:endParaRPr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  <a:extLst>
                      <a:ext uri="http://customooxmlschemas.google.com/">
                        <go:slidesCustomData xmlns:go="http://customooxmlschemas.google.com/" cellId="132: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9/31/25</a:t>
                      </a:r>
                      <a:endParaRPr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  <a:extLst>
                      <a:ext uri="http://customooxmlschemas.google.com/">
                        <go:slidesCustomData xmlns:go="http://customooxmlschemas.google.com/" cellId="132: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10/5/25</a:t>
                      </a:r>
                      <a:endParaRPr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  <a:extLst>
                      <a:ext uri="http://customooxmlschemas.google.com/">
                        <go:slidesCustomData xmlns:go="http://customooxmlschemas.google.com/" cellId="132:0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10/12/25</a:t>
                      </a:r>
                      <a:endParaRPr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  <a:extLst>
                      <a:ext uri="http://customooxmlschemas.google.com/">
                        <go:slidesCustomData xmlns:go="http://customooxmlschemas.google.com/" cellId="132:0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10/19/25</a:t>
                      </a:r>
                      <a:endParaRPr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  <a:extLst>
                      <a:ext uri="http://customooxmlschemas.google.com/">
                        <go:slidesCustomData xmlns:go="http://customooxmlschemas.google.com/" cellId="132:0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10/26/25</a:t>
                      </a:r>
                      <a:endParaRPr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  <a:extLst>
                      <a:ext uri="http://customooxmlschemas.google.com/">
                        <go:slidesCustomData xmlns:go="http://customooxmlschemas.google.com/" cellId="132:0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11/2/25</a:t>
                      </a:r>
                      <a:endParaRPr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  <a:extLst>
                      <a:ext uri="http://customooxmlschemas.google.com/">
                        <go:slidesCustomData xmlns:go="http://customooxmlschemas.google.com/" cellId="132:0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11/9/25</a:t>
                      </a:r>
                      <a:endParaRPr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  <a:extLst>
                      <a:ext uri="http://customooxmlschemas.google.com/">
                        <go:slidesCustomData xmlns:go="http://customooxmlschemas.google.com/" cellId="132:0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11/16/25</a:t>
                      </a:r>
                      <a:endParaRPr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  <a:extLst>
                      <a:ext uri="http://customooxmlschemas.google.com/">
                        <go:slidesCustomData xmlns:go="http://customooxmlschemas.google.com/" cellId="132:0:13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Solidify Database Organization</a:t>
                      </a:r>
                      <a:endParaRPr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  <a:extLst>
                      <a:ext uri="http://customooxmlschemas.google.com/">
                        <go:slidesCustomData xmlns:go="http://customooxmlschemas.google.com/" cellId="132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  <a:extLst>
                      <a:ext uri="http://customooxmlschemas.google.com/">
                        <go:slidesCustomData xmlns:go="http://customooxmlschemas.google.com/" cellId="132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  <a:extLst>
                      <a:ext uri="http://customooxmlschemas.google.com/">
                        <go:slidesCustomData xmlns:go="http://customooxmlschemas.google.com/" cellId="132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2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2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2: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2: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2:1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2:1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1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1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1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1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1:13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Plaid API Sandbox Testing</a:t>
                      </a:r>
                      <a:endParaRPr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  <a:extLst>
                      <a:ext uri="http://customooxmlschemas.google.com/">
                        <go:slidesCustomData xmlns:go="http://customooxmlschemas.google.com/" cellId="132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2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  <a:extLst>
                      <a:ext uri="http://customooxmlschemas.google.com/">
                        <go:slidesCustomData xmlns:go="http://customooxmlschemas.google.com/" cellId="132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  <a:extLst>
                      <a:ext uri="http://customooxmlschemas.google.com/">
                        <go:slidesCustomData xmlns:go="http://customooxmlschemas.google.com/" cellId="132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  <a:extLst>
                      <a:ext uri="http://customooxmlschemas.google.com/">
                        <go:slidesCustomData xmlns:go="http://customooxmlschemas.google.com/" cellId="132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2: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2:2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2:2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2:2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2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2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  <a:extLst>
                      <a:ext uri="http://customooxmlschemas.google.com/">
                        <go:slidesCustomData xmlns:go="http://customooxmlschemas.google.com/" cellId="132:2:11"/>
                      </a:ext>
                    </a:extLst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Not started</a:t>
                      </a:r>
                      <a:endParaRPr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2:12"/>
                      </a:ext>
                    </a:extLst>
                  </a:tcPr>
                </a:tc>
                <a:tc hMerge="1"/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Make UI More Relaxing</a:t>
                      </a:r>
                      <a:endParaRPr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  <a:extLst>
                      <a:ext uri="http://customooxmlschemas.google.com/">
                        <go:slidesCustomData xmlns:go="http://customooxmlschemas.google.com/" cellId="132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2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  <a:extLst>
                      <a:ext uri="http://customooxmlschemas.google.com/">
                        <go:slidesCustomData xmlns:go="http://customooxmlschemas.google.com/" cellId="132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  <a:extLst>
                      <a:ext uri="http://customooxmlschemas.google.com/">
                        <go:slidesCustomData xmlns:go="http://customooxmlschemas.google.com/" cellId="132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  <a:extLst>
                      <a:ext uri="http://customooxmlschemas.google.com/">
                        <go:slidesCustomData xmlns:go="http://customooxmlschemas.google.com/" cellId="132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2:3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2:3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2:3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2:3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3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3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  <a:extLst>
                      <a:ext uri="http://customooxmlschemas.google.com/">
                        <go:slidesCustomData xmlns:go="http://customooxmlschemas.google.com/" cellId="132:3:11"/>
                      </a:ext>
                    </a:extLst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In Progress</a:t>
                      </a:r>
                      <a:endParaRPr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3:12"/>
                      </a:ext>
                    </a:extLst>
                  </a:tcPr>
                </a:tc>
                <a:tc hMerge="1"/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Implement Breathing Animation</a:t>
                      </a:r>
                      <a:endParaRPr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  <a:extLst>
                      <a:ext uri="http://customooxmlschemas.google.com/">
                        <go:slidesCustomData xmlns:go="http://customooxmlschemas.google.com/" cellId="132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2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2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  <a:extLst>
                      <a:ext uri="http://customooxmlschemas.google.com/">
                        <go:slidesCustomData xmlns:go="http://customooxmlschemas.google.com/" cellId="132: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  <a:extLst>
                      <a:ext uri="http://customooxmlschemas.google.com/">
                        <go:slidesCustomData xmlns:go="http://customooxmlschemas.google.com/" cellId="132:4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  <a:extLst>
                      <a:ext uri="http://customooxmlschemas.google.com/">
                        <go:slidesCustomData xmlns:go="http://customooxmlschemas.google.com/" cellId="132:4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2:4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2:4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2:4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4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4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  <a:extLst>
                      <a:ext uri="http://customooxmlschemas.google.com/">
                        <go:slidesCustomData xmlns:go="http://customooxmlschemas.google.com/" cellId="132:4:11"/>
                      </a:ext>
                    </a:extLst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Completed</a:t>
                      </a:r>
                      <a:endParaRPr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4:12"/>
                      </a:ext>
                    </a:extLst>
                  </a:tcPr>
                </a:tc>
                <a:tc hMerge="1"/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Plaid API Integration</a:t>
                      </a:r>
                      <a:endParaRPr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  <a:extLst>
                      <a:ext uri="http://customooxmlschemas.google.com/">
                        <go:slidesCustomData xmlns:go="http://customooxmlschemas.google.com/" cellId="132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2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  <a:extLst>
                      <a:ext uri="http://customooxmlschemas.google.com/">
                        <go:slidesCustomData xmlns:go="http://customooxmlschemas.google.com/" cellId="132:5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  <a:extLst>
                      <a:ext uri="http://customooxmlschemas.google.com/">
                        <go:slidesCustomData xmlns:go="http://customooxmlschemas.google.com/" cellId="132:5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2:5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2:5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2:5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5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5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  <a:extLst>
                      <a:ext uri="http://customooxmlschemas.google.com/">
                        <go:slidesCustomData xmlns:go="http://customooxmlschemas.google.com/" cellId="132:5:11"/>
                      </a:ext>
                    </a:extLst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Behind Schedule</a:t>
                      </a:r>
                      <a:endParaRPr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5:12"/>
                      </a:ext>
                    </a:extLst>
                  </a:tcPr>
                </a:tc>
                <a:tc hMerge="1"/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Integrate Joint Database</a:t>
                      </a:r>
                      <a:endParaRPr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  <a:extLst>
                      <a:ext uri="http://customooxmlschemas.google.com/">
                        <go:slidesCustomData xmlns:go="http://customooxmlschemas.google.com/" cellId="132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2: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2: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6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6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  <a:extLst>
                      <a:ext uri="http://customooxmlschemas.google.com/">
                        <go:slidesCustomData xmlns:go="http://customooxmlschemas.google.com/" cellId="132:6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  <a:extLst>
                      <a:ext uri="http://customooxmlschemas.google.com/">
                        <go:slidesCustomData xmlns:go="http://customooxmlschemas.google.com/" cellId="132:6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  <a:extLst>
                      <a:ext uri="http://customooxmlschemas.google.com/">
                        <go:slidesCustomData xmlns:go="http://customooxmlschemas.google.com/" cellId="132:6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2:6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6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6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6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6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6:13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Frontend-Backend API Connection</a:t>
                      </a:r>
                      <a:endParaRPr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  <a:extLst>
                      <a:ext uri="http://customooxmlschemas.google.com/">
                        <go:slidesCustomData xmlns:go="http://customooxmlschemas.google.com/" cellId="132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2: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2: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2:7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2:7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2:7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  <a:extLst>
                      <a:ext uri="http://customooxmlschemas.google.com/">
                        <go:slidesCustomData xmlns:go="http://customooxmlschemas.google.com/" cellId="132:7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  <a:extLst>
                      <a:ext uri="http://customooxmlschemas.google.com/">
                        <go:slidesCustomData xmlns:go="http://customooxmlschemas.google.com/" cellId="132:7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  <a:extLst>
                      <a:ext uri="http://customooxmlschemas.google.com/">
                        <go:slidesCustomData xmlns:go="http://customooxmlschemas.google.com/" cellId="132:7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  <a:extLst>
                      <a:ext uri="http://customooxmlschemas.google.com/">
                        <go:slidesCustomData xmlns:go="http://customooxmlschemas.google.com/" cellId="132:7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  <a:extLst>
                      <a:ext uri="http://customooxmlschemas.google.com/">
                        <go:slidesCustomData xmlns:go="http://customooxmlschemas.google.com/" cellId="132:7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7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7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7:13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ML Forecaster Design</a:t>
                      </a:r>
                      <a:endParaRPr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  <a:extLst>
                      <a:ext uri="http://customooxmlschemas.google.com/">
                        <go:slidesCustomData xmlns:go="http://customooxmlschemas.google.com/" cellId="132: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2:8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2:8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2:8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2:8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8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8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  <a:extLst>
                      <a:ext uri="http://customooxmlschemas.google.com/">
                        <go:slidesCustomData xmlns:go="http://customooxmlschemas.google.com/" cellId="132:8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  <a:extLst>
                      <a:ext uri="http://customooxmlschemas.google.com/">
                        <go:slidesCustomData xmlns:go="http://customooxmlschemas.google.com/" cellId="132:8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  <a:extLst>
                      <a:ext uri="http://customooxmlschemas.google.com/">
                        <go:slidesCustomData xmlns:go="http://customooxmlschemas.google.com/" cellId="132:8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8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8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8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8:13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Backend Financial Minigame Design</a:t>
                      </a:r>
                      <a:endParaRPr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  <a:extLst>
                      <a:ext uri="http://customooxmlschemas.google.com/">
                        <go:slidesCustomData xmlns:go="http://customooxmlschemas.google.com/" cellId="132: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2:9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2:9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2:9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2:9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9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9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  <a:extLst>
                      <a:ext uri="http://customooxmlschemas.google.com/">
                        <go:slidesCustomData xmlns:go="http://customooxmlschemas.google.com/" cellId="132:9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  <a:extLst>
                      <a:ext uri="http://customooxmlschemas.google.com/">
                        <go:slidesCustomData xmlns:go="http://customooxmlschemas.google.com/" cellId="132:9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  <a:extLst>
                      <a:ext uri="http://customooxmlschemas.google.com/">
                        <go:slidesCustomData xmlns:go="http://customooxmlschemas.google.com/" cellId="132:9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9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9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9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9:13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Forecaster Game UI Design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  <a:extLst>
                      <a:ext uri="http://customooxmlschemas.google.com/">
                        <go:slidesCustomData xmlns:go="http://customooxmlschemas.google.com/" cellId="132:1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2:1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2:1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2:1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2:1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1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1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10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  <a:extLst>
                      <a:ext uri="http://customooxmlschemas.google.com/">
                        <go:slidesCustomData xmlns:go="http://customooxmlschemas.google.com/" cellId="132:10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  <a:extLst>
                      <a:ext uri="http://customooxmlschemas.google.com/">
                        <go:slidesCustomData xmlns:go="http://customooxmlschemas.google.com/" cellId="132:10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  <a:extLst>
                      <a:ext uri="http://customooxmlschemas.google.com/">
                        <go:slidesCustomData xmlns:go="http://customooxmlschemas.google.com/" cellId="132:10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10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10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10:13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Financial Trivia UI Design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  <a:extLst>
                      <a:ext uri="http://customooxmlschemas.google.com/">
                        <go:slidesCustomData xmlns:go="http://customooxmlschemas.google.com/" cellId="132:1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2:1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2:1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2:1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2:1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1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1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11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  <a:extLst>
                      <a:ext uri="http://customooxmlschemas.google.com/">
                        <go:slidesCustomData xmlns:go="http://customooxmlschemas.google.com/" cellId="132:11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  <a:extLst>
                      <a:ext uri="http://customooxmlschemas.google.com/">
                        <go:slidesCustomData xmlns:go="http://customooxmlschemas.google.com/" cellId="132:11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  <a:extLst>
                      <a:ext uri="http://customooxmlschemas.google.com/">
                        <go:slidesCustomData xmlns:go="http://customooxmlschemas.google.com/" cellId="132:11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11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11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11:13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Budget Streak UI Design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  <a:extLst>
                      <a:ext uri="http://customooxmlschemas.google.com/">
                        <go:slidesCustomData xmlns:go="http://customooxmlschemas.google.com/" cellId="132:1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2:1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2:1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2:1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2:1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1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12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12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  <a:extLst>
                      <a:ext uri="http://customooxmlschemas.google.com/">
                        <go:slidesCustomData xmlns:go="http://customooxmlschemas.google.com/" cellId="132:12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  <a:extLst>
                      <a:ext uri="http://customooxmlschemas.google.com/">
                        <go:slidesCustomData xmlns:go="http://customooxmlschemas.google.com/" cellId="132:12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  <a:extLst>
                      <a:ext uri="http://customooxmlschemas.google.com/">
                        <go:slidesCustomData xmlns:go="http://customooxmlschemas.google.com/" cellId="132:12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12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12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12:13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Financial Connections UI Design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  <a:extLst>
                      <a:ext uri="http://customooxmlschemas.google.com/">
                        <go:slidesCustomData xmlns:go="http://customooxmlschemas.google.com/" cellId="132:1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2:1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2:1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2:1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2:1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13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13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13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  <a:extLst>
                      <a:ext uri="http://customooxmlschemas.google.com/">
                        <go:slidesCustomData xmlns:go="http://customooxmlschemas.google.com/" cellId="132:13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  <a:extLst>
                      <a:ext uri="http://customooxmlschemas.google.com/">
                        <go:slidesCustomData xmlns:go="http://customooxmlschemas.google.com/" cellId="132:13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  <a:extLst>
                      <a:ext uri="http://customooxmlschemas.google.com/">
                        <go:slidesCustomData xmlns:go="http://customooxmlschemas.google.com/" cellId="132:13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13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13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13:13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Frontend Plaid User Setup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  <a:extLst>
                      <a:ext uri="http://customooxmlschemas.google.com/">
                        <go:slidesCustomData xmlns:go="http://customooxmlschemas.google.com/" cellId="132:1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2:1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2:1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2:1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2:14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14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14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14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14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  <a:extLst>
                      <a:ext uri="http://customooxmlschemas.google.com/">
                        <go:slidesCustomData xmlns:go="http://customooxmlschemas.google.com/" cellId="132:14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  <a:extLst>
                      <a:ext uri="http://customooxmlschemas.google.com/">
                        <go:slidesCustomData xmlns:go="http://customooxmlschemas.google.com/" cellId="132:14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  <a:extLst>
                      <a:ext uri="http://customooxmlschemas.google.com/">
                        <go:slidesCustomData xmlns:go="http://customooxmlschemas.google.com/" cellId="132:14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14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2:14:13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1bf34a8af_0_224"/>
          <p:cNvSpPr txBox="1"/>
          <p:nvPr>
            <p:ph type="title"/>
          </p:nvPr>
        </p:nvSpPr>
        <p:spPr>
          <a:xfrm>
            <a:off x="457200" y="8967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Validation Plan</a:t>
            </a:r>
            <a:endParaRPr/>
          </a:p>
        </p:txBody>
      </p:sp>
      <p:pic>
        <p:nvPicPr>
          <p:cNvPr id="138" name="Google Shape;138;g381bf34a8af_0_2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3613" y="1652852"/>
            <a:ext cx="7275818" cy="48527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 txBox="1"/>
          <p:nvPr>
            <p:ph type="ctrTitle"/>
          </p:nvPr>
        </p:nvSpPr>
        <p:spPr>
          <a:xfrm>
            <a:off x="2327707" y="2694000"/>
            <a:ext cx="44886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2013-06-18T16:37:55Z</dcterms:created>
  <dc:creator>Nowka, Kevin J.</dc:creator>
</cp:coreProperties>
</file>